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11480" y="411480"/>
            <a:ext cx="11384280" cy="598932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40080" y="676656"/>
            <a:ext cx="196596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導入提案 / ONLINE塾向け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15568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000" b="1">
                <a:solidFill>
                  <a:srgbClr val="121821"/>
                </a:solidFill>
                <a:latin typeface="Hiragino Sans"/>
              </a:rPr>
              <a:t>Steady Study 導入提案 v1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965960"/>
            <a:ext cx="6217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5F6875"/>
                </a:solidFill>
                <a:latin typeface="Hiragino Sans"/>
              </a:rPr>
              <a:t>スマホ学習を 1 つに絞り、運用は半セルフで回す。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487168"/>
            <a:ext cx="62179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今日やることは 1 つだけ。推奨コースは 1 つ。スペルチェックは既存のクイズに統合。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0" y="1005840"/>
            <a:ext cx="3931920" cy="4389120"/>
          </a:xfrm>
          <a:prstGeom prst="roundRect">
            <a:avLst/>
          </a:prstGeom>
          <a:solidFill>
            <a:srgbClr val="FCF8F2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79792" y="1133856"/>
            <a:ext cx="360273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1"/>
                </a:solidFill>
                <a:latin typeface="Hiragino Sans"/>
              </a:rPr>
              <a:t>この提案で変えること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79792" y="1444752"/>
            <a:ext cx="3602736" cy="3858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F6875"/>
                </a:solidFill>
                <a:latin typeface="Hiragino Sans"/>
              </a:rPr>
              <a:t>・例文や画像を学習中に毎回生成しない
・モバイルでは主推薦を 1 つだけ出す
・導入相談は役割別の画面と分ける
・管理者は導入チェックリストで開始できる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21821"/>
                </a:solidFill>
                <a:latin typeface="Hiragino Sans"/>
              </a:rPr>
              <a:t>塾が抱える課題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875"/>
                </a:solidFill>
                <a:latin typeface="Hiragino Sans"/>
              </a:rPr>
              <a:t>公開ページと現場運用の両方から見た、導入時につまずきやすい点を整理しています。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9184"/>
            <a:ext cx="141732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課題整理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36245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教材準備が重い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673352"/>
            <a:ext cx="3328416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テキストは毎回 AI 生成ではなく、保存した例文を再利用したほうが安い。画像ヒントは学生導線では不要で、コストだけ上がりやすい。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36245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生徒が迷いやすい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673352"/>
            <a:ext cx="3328416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画面に選択肢が多いと、スマホでは何から始めるか分かりにくい。学習の入口は 1 つ、推奨コースも 1 つに絞る必要がある。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991856" y="123444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56448" y="136245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導入運用の手間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56448" y="1673352"/>
            <a:ext cx="3328416" cy="3995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オンライン中小塾では、最初の設定と割当が重いと止まる。公開相談、役割確認、開始手順を分けて半セルフ化するのが前提。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21821"/>
                </a:solidFill>
                <a:latin typeface="Hiragino Sans"/>
              </a:rPr>
              <a:t>Steady Study の解き方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875"/>
                </a:solidFill>
                <a:latin typeface="Hiragino Sans"/>
              </a:rPr>
              <a:t>公開導線は 4 ステップに固定し、導入相談から開始までの迷いを減らします。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9184"/>
            <a:ext cx="141732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4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417320"/>
            <a:ext cx="24688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67512" y="1618488"/>
            <a:ext cx="1664208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1. 対象塾か判断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2029968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1"/>
                </a:solidFill>
                <a:latin typeface="Hiragino Sans"/>
              </a:rPr>
              <a:t>オンライン中心か、教材配信したいかを先に確認します。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417320"/>
            <a:ext cx="24688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47872" y="1618488"/>
            <a:ext cx="1664208" cy="310896"/>
          </a:xfrm>
          <a:prstGeom prst="roundRect">
            <a:avLst/>
          </a:prstGeom>
          <a:solidFill>
            <a:srgbClr val="2684FF"/>
          </a:solidFill>
          <a:ln>
            <a:solidFill>
              <a:srgbClr val="268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2. 役割別の見え方確認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47872" y="2029968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1"/>
                </a:solidFill>
                <a:latin typeface="Hiragino Sans"/>
              </a:rPr>
              <a:t>生徒・講師・管理者の画面を役割別に見せます。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417320"/>
            <a:ext cx="24688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28231" y="1618488"/>
            <a:ext cx="1664208" cy="310896"/>
          </a:xfrm>
          <a:prstGeom prst="roundRect">
            <a:avLst/>
          </a:prstGeom>
          <a:solidFill>
            <a:srgbClr val="0EA55A"/>
          </a:solidFill>
          <a:ln>
            <a:solidFill>
              <a:srgbClr val="0EA5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3. 導入相談を送る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8231" y="2029968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1"/>
                </a:solidFill>
                <a:latin typeface="Hiragino Sans"/>
              </a:rPr>
              <a:t>授業形態、開始時期、想定人数だけを送ってもらいます。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417320"/>
            <a:ext cx="2468880" cy="361188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9308592" y="1618488"/>
            <a:ext cx="1664208" cy="310896"/>
          </a:xfrm>
          <a:prstGeom prst="round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4. 招待または手動 provisioning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08592" y="2029968"/>
            <a:ext cx="2139696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121821"/>
                </a:solidFill>
                <a:latin typeface="Hiragino Sans"/>
              </a:rPr>
              <a:t>自動発行はせず、案内後に個別 provisioning で開始します。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321808"/>
            <a:ext cx="10927080" cy="658368"/>
          </a:xfrm>
          <a:prstGeom prst="roundRect">
            <a:avLst/>
          </a:prstGeom>
          <a:solidFill>
            <a:srgbClr val="FCF8F2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513832"/>
            <a:ext cx="1046988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0">
                <a:solidFill>
                  <a:srgbClr val="5F6875"/>
                </a:solidFill>
                <a:latin typeface="Hiragino Sans"/>
              </a:rPr>
              <a:t>営業トークは「半セルフ導入」。公開説明は最小限にして、相談と個別案内を主導線にします。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21821"/>
                </a:solidFill>
                <a:latin typeface="Hiragino Sans"/>
              </a:rPr>
              <a:t>画面の約束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875"/>
                </a:solidFill>
                <a:latin typeface="Hiragino Sans"/>
              </a:rPr>
              <a:t>生徒・講師・管理者それぞれの画面で、見せる情報を最小限に整理します。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9184"/>
            <a:ext cx="141732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UI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2801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67512" y="140817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生徒画面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1719072"/>
            <a:ext cx="3328416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・今日やることは 1 つだけ
・主推薦コースは 1 つだけ
・学習カードの例文は保存済みを表示
・スペルチェックは全文入力→ヒントの順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70248" y="1280160"/>
            <a:ext cx="36576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34840" y="1408176"/>
            <a:ext cx="33284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講師画面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1719072"/>
            <a:ext cx="3328416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・公式単語帳と My単語帳を切り替え
・学習状況、停滞リスク、配布を一画面で把握
・教材に対して例文準備を明示実行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37575" y="1280160"/>
            <a:ext cx="361188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02167" y="1408176"/>
            <a:ext cx="328269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管理者画面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02167" y="1719072"/>
            <a:ext cx="3282696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・導入相談キューを確認
・AI 利用は集計を正史に統一
・組織名、cohort、講師割当、教材配布、初回ミッションを確認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21821"/>
                </a:solidFill>
                <a:latin typeface="Hiragino Sans"/>
              </a:rPr>
              <a:t>AIコスト方針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875"/>
                </a:solidFill>
                <a:latin typeface="Hiragino Sans"/>
              </a:rPr>
              <a:t>学習中に AI を呼ばない設計へ寄せ、保存再利用を前提にしています。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9184"/>
            <a:ext cx="141732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cost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325880"/>
            <a:ext cx="5486400" cy="4480560"/>
          </a:xfrm>
          <a:prstGeom prst="roundRect">
            <a:avLst/>
          </a:prstGeom>
          <a:solidFill>
            <a:srgbClr val="FCF8F2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53896"/>
            <a:ext cx="51572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採用方針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64792"/>
            <a:ext cx="5157216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0">
                <a:solidFill>
                  <a:srgbClr val="5F6875"/>
                </a:solidFill>
                <a:latin typeface="Hiragino Sans"/>
              </a:rPr>
              <a:t>・例文は教材準備時にだけ作る
・学習中は `words.example_sentence` / `example_meaning` を再利用
・学生導線の画像生成は v1 では外す
・今月の利用表示は固定モックではなく実集計に寄せる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325880"/>
            <a:ext cx="45720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82512" y="1453896"/>
            <a:ext cx="42428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運用上の意味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82512" y="1764792"/>
            <a:ext cx="4242816" cy="39502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・例文の保存再利用は、毎回生成するより明確に安い
・画像生成は特に高コストなので学生フローから外す
・必要なときだけ管理者が例文準備を実行する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4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47472"/>
            <a:ext cx="81381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400" b="1">
                <a:solidFill>
                  <a:srgbClr val="121821"/>
                </a:solidFill>
                <a:latin typeface="Hiragino Sans"/>
              </a:rPr>
              <a:t>導入ステップ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86384"/>
            <a:ext cx="932688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0">
                <a:solidFill>
                  <a:srgbClr val="5F6875"/>
                </a:solidFill>
                <a:latin typeface="Hiragino Sans"/>
              </a:rPr>
              <a:t>最初の 1 回で迷わないために、開始時の確認事項を固定化しています。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241280" y="329184"/>
            <a:ext cx="1417320" cy="310896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  <a:latin typeface="Hiragino Sans"/>
              </a:rPr>
              <a:t>start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298448"/>
            <a:ext cx="10972800" cy="3520440"/>
          </a:xfrm>
          <a:prstGeom prst="roundRect">
            <a:avLst/>
          </a:prstGeom>
          <a:solidFill>
            <a:srgbClr val="FFFFFF"/>
          </a:solidFill>
          <a:ln>
            <a:solidFill>
              <a:srgbClr val="E2DC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426464"/>
            <a:ext cx="10643616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121821"/>
                </a:solidFill>
                <a:latin typeface="Hiragino Sans"/>
              </a:rPr>
              <a:t>初回チェックリスト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1737360"/>
            <a:ext cx="10643616" cy="29900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0">
                <a:solidFill>
                  <a:srgbClr val="5F6875"/>
                </a:solidFill>
                <a:latin typeface="Hiragino Sans"/>
              </a:rPr>
              <a:t>1. 組織名を確認する
2. cohort を作成する
3. 講師を割り当てる
4. 教材を配布する
5. 初回ミッションを設定する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5074920"/>
            <a:ext cx="10972800" cy="868680"/>
          </a:xfrm>
          <a:prstGeom prst="roundRect">
            <a:avLst/>
          </a:prstGeom>
          <a:solidFill>
            <a:srgbClr val="FF8216"/>
          </a:solidFill>
          <a:ln>
            <a:solidFill>
              <a:srgbClr val="FF82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5330952"/>
            <a:ext cx="1042416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Hiragino Sans"/>
              </a:rPr>
              <a:t>次のアクション: 1) 公開ページで役割を確認 2) 導入相談送信 3) 管理者が開始設定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455664"/>
            <a:ext cx="38404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0">
                <a:solidFill>
                  <a:srgbClr val="5F6875"/>
                </a:solidFill>
                <a:latin typeface="Hiragino Sans"/>
              </a:rPr>
              <a:t>Steady Study v1 /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